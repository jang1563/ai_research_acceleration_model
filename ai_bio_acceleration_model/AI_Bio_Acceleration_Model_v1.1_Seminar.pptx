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Public Seminar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AI-Accelerated Biological Discovery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9488"/>
                </a:solidFill>
              </a:defRPr>
            </a:pPr>
            <a:r>
              <a:t>Quantifying the Future of Drug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47472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Version 1.1 — Expert-Reviewed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Why drug development needs transformation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The Model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10-stage pipeline and mathematical 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39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Key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AI growth, saturation, and stage characteristics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90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Scenario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Pessimistic to optimistic projections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30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Key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Bottlenecks, sensitivity, and policy implications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Limitations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The Drug Development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1005840"/>
          </a:xfrm>
          <a:prstGeom prst="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</a:defRPr>
            </a:pPr>
            <a:r>
              <a:t>10-15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</a:defRPr>
            </a:pPr>
            <a:r>
              <a:t>Average time from discovery to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97280"/>
            <a:ext cx="2651760" cy="1005840"/>
          </a:xfrm>
          <a:prstGeom prst="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</a:defRPr>
            </a:pPr>
            <a:r>
              <a:t>$2.6 Billion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</a:defRPr>
            </a:pPr>
            <a:r>
              <a:t>Average cost to develop a single drug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2651760" cy="1005840"/>
          </a:xfrm>
          <a:prstGeom prst="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</a:defRPr>
            </a:pPr>
            <a:r>
              <a:t>~5%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</a:defRPr>
            </a:pPr>
            <a:r>
              <a:t>Overall success rate from Phase 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The Core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</a:defRPr>
            </a:pPr>
            <a:r>
              <a:t>How much can AI accelerate this pipeline? Which stages benefit most? What are the bottlenecks?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Sources: Tufts CSDD, FDA CDER Annual Reports 2015-2023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</a:defRPr>
            </a:pPr>
            <a:r>
              <a:t>10-Stage Drug Development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46304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6mo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79" y="914400"/>
            <a:ext cx="146304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79" y="960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79" y="1143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79" y="1417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3mo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914400"/>
            <a:ext cx="146304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960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143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Wet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417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12mo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399" y="914400"/>
            <a:ext cx="146304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399" y="960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9" y="1143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1417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2mo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914400"/>
            <a:ext cx="146304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960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1143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1417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8mo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1920240"/>
            <a:ext cx="146304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9659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423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12mo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79" y="1920240"/>
            <a:ext cx="1463040" cy="822960"/>
          </a:xfrm>
          <a:prstGeom prst="roundRect">
            <a:avLst/>
          </a:prstGeom>
          <a:solidFill>
            <a:srgbClr val="DC2626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79" y="19659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2423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24mo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1920240"/>
            <a:ext cx="146304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19659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III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2423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36mo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399" y="1920240"/>
            <a:ext cx="146304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399" y="19659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399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Regulatory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399" y="2423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12mo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59" y="1920240"/>
            <a:ext cx="146304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59" y="19659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S10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59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24231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</a:defRPr>
            </a:pPr>
            <a:r>
              <a:t>12mo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9488"/>
                </a:solidFill>
              </a:defRPr>
            </a:pPr>
            <a:r>
              <a:t>■ Computational (high AI leverage)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2626"/>
                </a:solidFill>
              </a:defRPr>
            </a:pPr>
            <a:r>
              <a:t>■ Physical (limited AI leverage)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■ Regulatory (policy constrained)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□ Primary Bottleneck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2400E"/>
                </a:solidFill>
              </a:defRPr>
            </a:pPr>
            <a:r>
              <a:t>Key Insight: Phase II trials (S7) remain the dominant bottleneck throughout the simulation. Even with 100x AI improvement in computational stages, physical/regulatory constraints limit overall acceleration to ~2.8x.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Mathematical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931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1. Logistic AI Growth (v1.1)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A(t) = Amax / (1 + (Amax - 1) · e^(-g(t-2024)))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Amax = ceiling (100x), g = growth rate (0.3-0.7/yr)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931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2. Saturation Multiplier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M_i(t) = 1 + (Mmax,i - 1) · (1 - A(t)^(-k_i))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Mmax = max speedup, k = saturation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931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3. Effective Service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μ_i,eff(t) = (12/τ_i) · M_i(t) · p_i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τ = duration (months), p = success probability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931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4. System 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443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Θ(t) = min{μ_i,eff(t)} for all stages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Bottleneck determines overall 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3931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015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5. Progress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84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R(t) = Θ(t) / Θ(2024)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Speedup relative to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3931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416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6. Cumulative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24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Y(T) = ∫ R(t) dt from 2024 to 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Equivalent years of 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822960"/>
            <a:ext cx="4114800" cy="914400"/>
          </a:xfrm>
          <a:prstGeom prst="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8686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6534"/>
                </a:solidFill>
              </a:defRPr>
            </a:pPr>
            <a:r>
              <a:t>Interpretation: If Y(2050) = 74, that means 26 calendar years (2024→2050) produce the equivalent of 74 years of traditional scientific progress—a 2.8x acceleration.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Scenario Results: 2024→2050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20116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PESSIMISTIC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748B"/>
                </a:solidFill>
              </a:defRPr>
            </a:pPr>
            <a:r>
              <a:t>2.0×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</a:defRPr>
            </a:pPr>
            <a:r>
              <a:t>~51 equiv.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g = 0.30/year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914400"/>
            <a:ext cx="2011680" cy="1828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005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2.8×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~74 equiv.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</a:defRPr>
            </a:pPr>
            <a:r>
              <a:t>g = 0.50/year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914400"/>
            <a:ext cx="20116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005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OPTIMISTIC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748B"/>
                </a:solidFill>
              </a:defRPr>
            </a:pPr>
            <a:r>
              <a:t>4.1×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</a:defRPr>
            </a:pPr>
            <a:r>
              <a:t>~106 equiv.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g = 0.70/year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914400"/>
            <a:ext cx="2011680" cy="18288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005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AI WINTER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</a:defRPr>
            </a:pPr>
            <a:r>
              <a:t>2.3×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3A5F"/>
                </a:solidFill>
              </a:defRPr>
            </a:pPr>
            <a:r>
              <a:t>~59 equiv.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15% probability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3A5F"/>
                </a:solidFill>
              </a:defRPr>
            </a:pPr>
            <a:r>
              <a:t>Key Insight: Even the optimistic scenario (4.1×) falls far short of the theoretical maximum (~10×) because clinical trial stages have inherent physical and regulatory constraints that AI cannot fully overcome.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6534"/>
                </a:solidFill>
              </a:defRPr>
            </a:pPr>
            <a:r>
              <a:t>📈 Monte Carlo 80% CI: [2.0×, 4.1×] by 2050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</a:defRPr>
            </a:pPr>
            <a:r>
              <a:t>🎯 Sobol Index: AI growth rate explains ~85% of variance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</a:defRPr>
            </a:pPr>
            <a:r>
              <a:t>Bottleneck Analysis: Why Clinical Trials Dominate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4572000" cy="1188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1B1B"/>
                </a:solidFill>
              </a:defRPr>
            </a:pPr>
            <a:r>
              <a:t>Phase II (S7) - The Persistent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1D1D"/>
                </a:solidFill>
              </a:defRPr>
            </a:pPr>
            <a:r>
              <a:t>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1D1D"/>
                </a:solidFill>
              </a:defRPr>
            </a:pPr>
            <a:r>
              <a:t>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234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</a:defRPr>
            </a:pPr>
            <a:r>
              <a:t>2.8×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002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1D1D"/>
                </a:solidFill>
              </a:defRPr>
            </a:pPr>
            <a:r>
              <a:t>max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Mathematical Explanation: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572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μ_eff(S7) = (12/24) × 0.33 × 2.8 = 0.46 at max</a:t>
            </a:r>
            <a:br/>
            <a:r>
              <a:t>μ_eff(S4) = (12/2) × 0.95 × 100 = 570 at max</a:t>
            </a:r>
            <a:br/>
            <a:r>
              <a:t>Ratio: S4 is 1,200× faster than S7!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Why AI Can't Fix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143000"/>
            <a:ext cx="3474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1887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2400E"/>
                </a:solidFill>
              </a:defRPr>
            </a:pPr>
            <a:r>
              <a:t>Human Biology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417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2400E"/>
                </a:solidFill>
              </a:defRPr>
            </a:pPr>
            <a:r>
              <a:t>Patients respond on biological timescales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691640"/>
            <a:ext cx="3474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7373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2400E"/>
                </a:solidFill>
              </a:defRPr>
            </a:pPr>
            <a:r>
              <a:t>Safety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9659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2400E"/>
                </a:solidFill>
              </a:defRPr>
            </a:pPr>
            <a:r>
              <a:t>Regulatory observation periods mandatory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2240280"/>
            <a:ext cx="3474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2860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2400E"/>
                </a:solidFill>
              </a:defRPr>
            </a:pPr>
            <a:r>
              <a:t>Dose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5146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2400E"/>
                </a:solidFill>
              </a:defRPr>
            </a:pPr>
            <a:r>
              <a:t>Sequential testing is irreducible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788920"/>
            <a:ext cx="3474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2400E"/>
                </a:solidFill>
              </a:defRPr>
            </a:pPr>
            <a:r>
              <a:t>Patient Recruitment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063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2400E"/>
                </a:solidFill>
              </a:defRPr>
            </a:pPr>
            <a:r>
              <a:t>Enrollment has inherent rate limits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</a:defRPr>
            </a:pPr>
            <a:r>
              <a:t>Key Finding: The bottleneck remains at Phase II throughout the entire 2024-2050 simulation period, regardless of scenario. Even with transformative AI in early stages, clinical trial constraints limit overall acceleration.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</a:defRPr>
            </a:pPr>
            <a:r>
              <a:t>v1.1: Expert-Reviewed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Implements 10 P1 (Critical) and 8 P2 (Important) fixes from 15-expert simulated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Critical Fixes (P1)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</a:defRPr>
            </a:pPr>
            <a:r>
              <a:t>P1-4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Wet Lab M_max: 5.0 →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</a:defRPr>
            </a:pPr>
            <a:r>
              <a:t>P1-5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Regulatory Floor: 6-month 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</a:defRPr>
            </a:pPr>
            <a:r>
              <a:t>P1-6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Logistic AI Growth with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</a:defRPr>
            </a:pPr>
            <a:r>
              <a:t>P1-7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AI Winter Scenario: 15%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</a:defRPr>
            </a:pPr>
            <a:r>
              <a:t>P2-18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03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S1 p_success: 0.95 → 0.40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Important Fixes (P2)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280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</a:defRPr>
            </a:pPr>
            <a:r>
              <a:t>P2-11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280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Bootstrap CIs: 1000 samples, 90%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600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</a:defRPr>
            </a:pPr>
            <a:r>
              <a:t>P2-12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600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Disease-specific Phase II M_max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920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</a:defRPr>
            </a:pPr>
            <a:r>
              <a:t>P2-13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9202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Manufacturing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240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</a:defRPr>
            </a:pPr>
            <a:r>
              <a:t>P2-16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240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QALY Range: $50K-$200K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560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</a:defRPr>
            </a:pPr>
            <a:r>
              <a:t>P2-17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603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5F"/>
                </a:solidFill>
              </a:defRPr>
            </a:pPr>
            <a:r>
              <a:t>Vaccine Pathway (COVID precedent)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6534"/>
                </a:solidFill>
              </a:defRPr>
            </a:pPr>
            <a:r>
              <a:t>Net Impact: v1.1 results are ~20-30% more conservative than v1.0, with 2× wider confidence intervals. This reflects greater epistemic humility about future AI capabilities and biological constraints.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Note: Expert review was AI-simulated using Claude (Anthropic)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Policy Implications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931920" cy="2011680"/>
          </a:xfrm>
          <a:prstGeom prst="round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🎯 High Impact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Clinical Trial Reform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Adaptive designs, surrogate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Regulatory Modernization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Accelerated pathways, rolling submissions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Phase II Innovations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Biomarker-driven patient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822960"/>
            <a:ext cx="393192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914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</a:defRPr>
            </a:pPr>
            <a:r>
              <a:t>📉 Lower Impact (Surprisingly)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801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More AI for Early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Diminishing returns when bottleneck elsewhere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7830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Faster Data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011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S4 already saturates at 100×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Hypothesis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514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Quality &gt; quantity (40% success)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2400E"/>
                </a:solidFill>
              </a:defRPr>
            </a:pPr>
            <a:r>
              <a:t>Key Policy Insight: "Investments in AI for early-stage research yield diminishing returns while clinical trial reform could have outsized impact on overall pipeline throughput."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Phase II M_max: 2.8→4.0×</a:t>
            </a:r>
            <a:br/>
            <a:r>
              <a:t>System: 2.8→3.6×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Regulatory floor: 6→3mo</a:t>
            </a:r>
            <a:br/>
            <a:r>
              <a:t>System: 2.8→2.9×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40AF"/>
                </a:solidFill>
              </a:defRPr>
            </a:pPr>
            <a:r>
              <a:t>S4 M_max: 100→200×</a:t>
            </a:r>
            <a:br/>
            <a:r>
              <a:t>System: 2.8→2.8× (no change)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Limitations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Model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1B1B"/>
                </a:solidFill>
              </a:defRPr>
            </a:pPr>
            <a:r>
              <a:t>AI-Simulated Expert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1B1B"/>
                </a:solidFill>
              </a:defRPr>
            </a:pPr>
            <a:r>
              <a:t>Not validated by real domain experts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19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3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1B1B"/>
                </a:solidFill>
              </a:defRPr>
            </a:pPr>
            <a:r>
              <a:t>Aggregate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39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1B1B"/>
                </a:solidFill>
              </a:defRPr>
            </a:pPr>
            <a:r>
              <a:t>Single pipeline; real-world is heterogeneous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1B1B"/>
                </a:solidFill>
              </a:defRPr>
            </a:pPr>
            <a:r>
              <a:t>Parameter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79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1B1B"/>
                </a:solidFill>
              </a:defRPr>
            </a:pPr>
            <a:r>
              <a:t>M_max values are theoretical estimates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1B1B"/>
                </a:solidFill>
              </a:defRPr>
            </a:pPr>
            <a:r>
              <a:t>Steady-State Assumption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1B1B"/>
                </a:solidFill>
              </a:defRPr>
            </a:pPr>
            <a:r>
              <a:t>Ignores transient dynamics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</a:defRPr>
            </a:pPr>
            <a:r>
              <a:t>What We Did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534"/>
                </a:solidFill>
              </a:defRPr>
            </a:pPr>
            <a:r>
              <a:t>Transparent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37160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6534"/>
                </a:solidFill>
              </a:defRPr>
            </a:pPr>
            <a:r>
              <a:t>All parameters documented with 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645919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69163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534"/>
                </a:solidFill>
              </a:defRPr>
            </a:pPr>
            <a:r>
              <a:t>Calibrated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920239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6534"/>
                </a:solidFill>
              </a:defRPr>
            </a:pPr>
            <a:r>
              <a:t>2× wider CIs; AI Winter captures tail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19456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2402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534"/>
                </a:solidFill>
              </a:defRPr>
            </a:pPr>
            <a:r>
              <a:t>Conservative Estimates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468879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6534"/>
                </a:solidFill>
              </a:defRPr>
            </a:pPr>
            <a:r>
              <a:t>Physical constraints explicitly modeled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74320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7889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534"/>
                </a:solidFill>
              </a:defRPr>
            </a:pPr>
            <a:r>
              <a:t>Sensitivity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01752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6534"/>
                </a:solidFill>
              </a:defRPr>
            </a:pPr>
            <a:r>
              <a:t>Sobol indices identify key parameters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40AF"/>
                </a:solidFill>
              </a:defRPr>
            </a:pPr>
            <a:r>
              <a:t>Recommended Next Steps: (1) Real expert panel validation, (2) Disease-specific models, (3) Monte Carlo on all parameters, (4) Integration with economic models for cost-benefit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2651760" cy="146304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2.0-4.1× Acceleration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By 2050, AI could compress 26 years into 51-106 equivalent years (80% CI)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914400"/>
            <a:ext cx="2651760" cy="146304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Bottlenecks Persist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Phase II trials remain rate-limiting; biological constraints cap AI's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914400"/>
            <a:ext cx="2651760" cy="1463040"/>
          </a:xfrm>
          <a:prstGeom prst="roundRect">
            <a:avLst/>
          </a:prstGeom>
          <a:solidFill>
            <a:srgbClr val="2D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Policy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Clinical trial reform offers higher leverage than more AI in early stages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solidFill>
            <a:srgbClr val="3D2A0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517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"AI is a powerful tool for drug development acceleration, but it works best when we focus on the bottlenecks—not just the stages where AI excels."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66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v1.1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566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566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2.8×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66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Phase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D9488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2651760"/>
            <a:ext cx="14630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2926080"/>
            <a:ext cx="5486400" cy="1005840"/>
          </a:xfrm>
          <a:prstGeom prst="roundRect">
            <a:avLst/>
          </a:prstGeom>
          <a:solidFill>
            <a:srgbClr val="1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</a:defRPr>
            </a:pPr>
            <a:r>
              <a:t>Resources &amp;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D9488"/>
                </a:solidFill>
              </a:defRPr>
            </a:pPr>
            <a:r>
              <a:t>Interactive Demo</a:t>
            </a:r>
            <a:br/>
            <a:r>
              <a:t>EXPLANATION_SIMPLE.html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D9488"/>
                </a:solidFill>
              </a:defRPr>
            </a:pPr>
            <a:r>
              <a:t>Website</a:t>
            </a:r>
            <a:br/>
            <a:r>
              <a:t>jang1563.github.io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D9488"/>
                </a:solidFill>
              </a:defRPr>
            </a:pPr>
            <a:r>
              <a:t>Documentation</a:t>
            </a:r>
            <a:br/>
            <a:r>
              <a:t>PROJECT_BIBLE.md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Note: Expert review was AI-simulated using Claude (Anthropic)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